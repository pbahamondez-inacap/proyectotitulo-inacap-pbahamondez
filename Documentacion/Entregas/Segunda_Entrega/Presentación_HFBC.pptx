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9"/>
  </p:normalViewPr>
  <p:slideViewPr>
    <p:cSldViewPr snapToGrid="0">
      <p:cViewPr varScale="1">
        <p:scale>
          <a:sx n="82" d="100"/>
          <a:sy n="82" d="100"/>
        </p:scale>
        <p:origin x="19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13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937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2286000" cy="6858000"/>
          </a:xfrm>
          <a:prstGeom prst="rect">
            <a:avLst/>
          </a:prstGeom>
          <a:solidFill>
            <a:srgbClr val="008B8F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304800" cy="6858000"/>
          </a:xfrm>
          <a:prstGeom prst="rect">
            <a:avLst/>
          </a:prstGeom>
          <a:solidFill>
            <a:srgbClr val="D83263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83263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125" b="1">
                <a:solidFill>
                  <a:srgbClr val="7BC9C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C9C4"/>
                </a:solidFill>
                <a:latin typeface="Aptos"/>
                <a:ea typeface="Aptos"/>
                <a:cs typeface="Aptos"/>
              </a:rPr>
              <a:t>SEGURIDAD DE LA INFORMACIÓN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619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16" lnSpcReduction="10000"/>
          </a:bodyPr>
          <a:lstStyle/>
          <a:p>
            <a:pPr algn="l">
              <a:lnSpc>
                <a:spcPct val="95000"/>
              </a:lnSpc>
              <a:buNone/>
              <a:defRPr sz="5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SGSI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1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7524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 planillas dispersas</a:t>
            </a:r>
          </a:p>
          <a:p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gobierno auditable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1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5810250" cy="28575"/>
          </a:xfrm>
          <a:prstGeom prst="rect">
            <a:avLst/>
          </a:prstGeom>
          <a:solidFill>
            <a:srgbClr val="7BC9C4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1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75" b="0">
                <a:solidFill>
                  <a:srgbClr val="DDE5E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DE5E5"/>
                </a:solidFill>
                <a:latin typeface="Aptos"/>
                <a:ea typeface="Aptos"/>
                <a:cs typeface="Aptos"/>
              </a:rPr>
              <a:t>Presentación ejecutiva para stakeholders y jefaturas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1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00" b="0">
                <a:solidFill>
                  <a:srgbClr val="AEBB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BBC"/>
                </a:solidFill>
                <a:latin typeface="Aptos"/>
                <a:ea typeface="Aptos"/>
                <a:cs typeface="Aptos"/>
              </a:rPr>
              <a:t>Hospital Clínico Félix Bulnes · Octubre 2026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1-000A-4000-8000-000000000000}"/>
              </a:ext>
            </a:extLst>
          </p:cNvPr>
          <p:cNvSpPr>
            <a:spLocks noGrp="1"/>
          </p:cNvSpPr>
          <p:nvPr/>
        </p:nvSpPr>
        <p:spPr>
          <a:xfrm>
            <a:off x="10306050" y="1104900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ISO/IEC 27001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1-000B-4000-8000-000000000000}"/>
              </a:ext>
            </a:extLst>
          </p:cNvPr>
          <p:cNvSpPr>
            <a:spLocks noGrp="1"/>
          </p:cNvSpPr>
          <p:nvPr/>
        </p:nvSpPr>
        <p:spPr>
          <a:xfrm>
            <a:off x="10306050" y="1485900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Ley 21.663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1-000C-4000-8000-000000000000}"/>
              </a:ext>
            </a:extLst>
          </p:cNvPr>
          <p:cNvSpPr>
            <a:spLocks noGrp="1"/>
          </p:cNvSpPr>
          <p:nvPr/>
        </p:nvSpPr>
        <p:spPr>
          <a:xfrm>
            <a:off x="10363200" y="1962150"/>
            <a:ext cx="1352550" cy="19050"/>
          </a:xfrm>
          <a:prstGeom prst="rect">
            <a:avLst/>
          </a:prstGeom>
          <a:solidFill>
            <a:srgbClr val="B6E2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1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0325100" y="2324100"/>
            <a:ext cx="14859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Controles</a:t>
            </a:r>
          </a:p>
          <a:p>
            <a:pPr algn="l">
              <a:lnSpc>
                <a:spcPct val="95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Evidencias</a:t>
            </a:r>
          </a:p>
          <a:p>
            <a:pPr algn="l">
              <a:lnSpc>
                <a:spcPct val="95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Incidentes</a:t>
            </a:r>
          </a:p>
          <a:p>
            <a:pPr algn="l">
              <a:lnSpc>
                <a:spcPct val="95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Terceros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1-000E-4000-8000-000000000000}"/>
              </a:ext>
            </a:extLst>
          </p:cNvPr>
          <p:cNvSpPr>
            <a:spLocks noGrp="1"/>
          </p:cNvSpPr>
          <p:nvPr/>
        </p:nvSpPr>
        <p:spPr>
          <a:xfrm>
            <a:off x="10325100" y="5486400"/>
            <a:ext cx="1485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857"/>
          </a:bodyPr>
          <a:lstStyle/>
          <a:p>
            <a:pPr algn="l">
              <a:lnSpc>
                <a:spcPct val="9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Decidir con evidencia.</a:t>
            </a:r>
          </a:p>
          <a:p>
            <a:pPr algn="l">
              <a:lnSpc>
                <a:spcPct val="95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 dentro de plazo.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1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296025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750" b="0">
                <a:solidFill>
                  <a:srgbClr val="8FA0A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A0A2"/>
                </a:solidFill>
                <a:latin typeface="Aptos"/>
                <a:ea typeface="Aptos"/>
                <a:cs typeface="Aptos"/>
              </a:rPr>
              <a:t>Preparado a partir del informe de desarrollo e implementación del proyecto de título.</a:t>
            </a:r>
          </a:p>
        </p:txBody>
      </p:sp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01 · IMPERATIVO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90"/>
          </a:bodyPr>
          <a:lstStyle/>
          <a:p>
            <a:pPr algn="l">
              <a:lnSpc>
                <a:spcPct val="95000"/>
              </a:lnSpc>
              <a:buNone/>
              <a:def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La brecha es regulatoria, operativa y de trazabilidad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323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975" b="1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973"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El hospital debe demostrar madurez de controles y gestionar incidentes bajo plazos legales estrictos.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46863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42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Hoy la evidencia está dispersa entre planillas y documentos. El resultado: poca visibilidad del estado real, auditorías costosas y riesgo de vencimientos.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95700"/>
            <a:ext cx="4476750" cy="28575"/>
          </a:xfrm>
          <a:prstGeom prst="rect">
            <a:avLst/>
          </a:prstGeom>
          <a:solidFill>
            <a:srgbClr val="D83263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D832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3263"/>
                </a:solidFill>
                <a:latin typeface="Aptos"/>
                <a:ea typeface="Aptos"/>
                <a:cs typeface="Aptos"/>
              </a:rPr>
              <a:t>La oportunidad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2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457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Centralizar el gobierno de seguridad sin conectarse a la red clínica ni reemplazar sistemas asistenciales.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2-000A-4000-8000-000000000000}"/>
              </a:ext>
            </a:extLst>
          </p:cNvPr>
          <p:cNvSpPr>
            <a:spLocks noGrp="1"/>
          </p:cNvSpPr>
          <p:nvPr/>
        </p:nvSpPr>
        <p:spPr>
          <a:xfrm>
            <a:off x="5905500" y="1695450"/>
            <a:ext cx="5676900" cy="3981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2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RELOJ LEGAL DE INCIDENTES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2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0" y="2495550"/>
            <a:ext cx="190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46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rPr>
              <a:t>3 h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2-000D-4000-8000-000000000000}"/>
              </a:ext>
            </a:extLst>
          </p:cNvPr>
          <p:cNvSpPr>
            <a:spLocks noGrp="1"/>
          </p:cNvSpPr>
          <p:nvPr/>
        </p:nvSpPr>
        <p:spPr>
          <a:xfrm>
            <a:off x="8077200" y="27622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alerta temprana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2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0" y="3333750"/>
            <a:ext cx="485775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2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0" y="3638550"/>
            <a:ext cx="190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rPr>
              <a:t>72 h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2-0010-4000-8000-000000000000}"/>
              </a:ext>
            </a:extLst>
          </p:cNvPr>
          <p:cNvSpPr>
            <a:spLocks noGrp="1"/>
          </p:cNvSpPr>
          <p:nvPr/>
        </p:nvSpPr>
        <p:spPr>
          <a:xfrm>
            <a:off x="8077200" y="387667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reporte alta / crítica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2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0" y="4438650"/>
            <a:ext cx="485775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2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0" y="47434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15 días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2-0013-4000-8000-000000000000}"/>
              </a:ext>
            </a:extLst>
          </p:cNvPr>
          <p:cNvSpPr>
            <a:spLocks noGrp="1"/>
          </p:cNvSpPr>
          <p:nvPr/>
        </p:nvSpPr>
        <p:spPr>
          <a:xfrm>
            <a:off x="8458200" y="49530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reporte media / baja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2-0014-4000-8000-000000000000}"/>
              </a:ext>
            </a:extLst>
          </p:cNvPr>
          <p:cNvSpPr>
            <a:spLocks noGrp="1"/>
          </p:cNvSpPr>
          <p:nvPr/>
        </p:nvSpPr>
        <p:spPr>
          <a:xfrm>
            <a:off x="5905500" y="5867400"/>
            <a:ext cx="567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00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Plazos descritos en el flujo de incidentes del informe; el reporte a ANCI permanece por canal institucional.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2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Fuente: Informe TIHI84 U2 ES2 · Priscila Bahamóndez · 2026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2-0016-4000-8000-000000000000}"/>
              </a:ext>
            </a:extLst>
          </p:cNvPr>
          <p:cNvSpPr>
            <a:spLocks noGrp="1"/>
          </p:cNvSpPr>
          <p:nvPr/>
        </p:nvSpPr>
        <p:spPr>
          <a:xfrm>
            <a:off x="8705850" y="6543675"/>
            <a:ext cx="28765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SGSI · Hospital Clínico Félix Bulnes</a:t>
            </a:r>
          </a:p>
        </p:txBody>
      </p:sp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02 · PROPUESTA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35"/>
          </a:bodyPr>
          <a:lstStyle/>
          <a:p>
            <a:pPr algn="l">
              <a:lnSpc>
                <a:spcPct val="95000"/>
              </a:lnSpc>
              <a:buNone/>
              <a:def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Una plataforma convierte evidencia en decisiones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323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975" b="1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39"/>
          </a:bodyPr>
          <a:lstStyle/>
          <a:p>
            <a:pPr algn="l">
              <a:lnSpc>
                <a:spcPct val="95000"/>
              </a:lnSpc>
              <a:buNone/>
              <a:defRPr sz="1650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El SGSI ordena el ciclo completo: conocer el estado, actuar sobre brechas y demostrar cumplimiento.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10972800" cy="990600"/>
          </a:xfrm>
          <a:prstGeom prst="rect">
            <a:avLst/>
          </a:prstGeom>
          <a:solidFill>
            <a:srgbClr val="20272B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CONOCER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3143250" y="25336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Controles ISO/IEC 27001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3-0009-4000-8000-000000000000}"/>
              </a:ext>
            </a:extLst>
          </p:cNvPr>
          <p:cNvSpPr>
            <a:spLocks noGrp="1"/>
          </p:cNvSpPr>
          <p:nvPr/>
        </p:nvSpPr>
        <p:spPr>
          <a:xfrm>
            <a:off x="3143250" y="28956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C7D4D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4D5"/>
                </a:solidFill>
                <a:latin typeface="Aptos"/>
                <a:ea typeface="Aptos"/>
                <a:cs typeface="Aptos"/>
              </a:rPr>
              <a:t>Evidencias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3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115050" y="2533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Madurez por dominio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3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115050" y="28956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C7D4D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4D5"/>
                </a:solidFill>
                <a:latin typeface="Aptos"/>
                <a:ea typeface="Aptos"/>
                <a:cs typeface="Aptos"/>
              </a:rPr>
              <a:t>Dashboard y trazabilidad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3-000C-4000-8000-000000000000}"/>
              </a:ext>
            </a:extLst>
          </p:cNvPr>
          <p:cNvSpPr>
            <a:spLocks noGrp="1"/>
          </p:cNvSpPr>
          <p:nvPr/>
        </p:nvSpPr>
        <p:spPr>
          <a:xfrm>
            <a:off x="9048750" y="25717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226"/>
          </a:bodyPr>
          <a:lstStyle/>
          <a:p>
            <a:pPr algn="l">
              <a:lnSpc>
                <a:spcPct val="95000"/>
              </a:lnSpc>
              <a:buNone/>
              <a:defRPr sz="1275" b="1">
                <a:solidFill>
                  <a:srgbClr val="7BC9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C9C4"/>
                </a:solidFill>
                <a:latin typeface="Aptos"/>
                <a:ea typeface="Aptos"/>
                <a:cs typeface="Aptos"/>
              </a:rPr>
              <a:t>Estado común para Dirección y responsables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3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10972800" cy="990600"/>
          </a:xfrm>
          <a:prstGeom prst="rect">
            <a:avLst/>
          </a:prstGeom>
          <a:solidFill>
            <a:srgbClr val="E7F3F1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3-000E-4000-8000-000000000000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225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rPr>
              <a:t>ACTUAR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3-000F-4000-8000-000000000000}"/>
              </a:ext>
            </a:extLst>
          </p:cNvPr>
          <p:cNvSpPr>
            <a:spLocks noGrp="1"/>
          </p:cNvSpPr>
          <p:nvPr/>
        </p:nvSpPr>
        <p:spPr>
          <a:xfrm>
            <a:off x="3143250" y="3676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Incidentes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3-0010-4000-8000-000000000000}"/>
              </a:ext>
            </a:extLst>
          </p:cNvPr>
          <p:cNvSpPr>
            <a:spLocks noGrp="1"/>
          </p:cNvSpPr>
          <p:nvPr/>
        </p:nvSpPr>
        <p:spPr>
          <a:xfrm>
            <a:off x="3143250" y="40386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Taxonomía ANCI y vencimientos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3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115050" y="3676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Terceros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3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115050" y="40386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909"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Cláusulas, conformidad y plan de acción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3-0013-4000-8000-000000000000}"/>
              </a:ext>
            </a:extLst>
          </p:cNvPr>
          <p:cNvSpPr>
            <a:spLocks noGrp="1"/>
          </p:cNvSpPr>
          <p:nvPr/>
        </p:nvSpPr>
        <p:spPr>
          <a:xfrm>
            <a:off x="9277350" y="3676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Personas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3-0014-4000-8000-000000000000}"/>
              </a:ext>
            </a:extLst>
          </p:cNvPr>
          <p:cNvSpPr>
            <a:spLocks noGrp="1"/>
          </p:cNvSpPr>
          <p:nvPr/>
        </p:nvSpPr>
        <p:spPr>
          <a:xfrm>
            <a:off x="9277350" y="40386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656"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Controles y responsables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3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990600"/>
          </a:xfrm>
          <a:prstGeom prst="rect">
            <a:avLst/>
          </a:prstGeom>
          <a:solidFill>
            <a:srgbClr val="D83263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3-0016-4000-8000-000000000000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4168"/>
          </a:bodyPr>
          <a:lstStyle/>
          <a:p>
            <a:pPr algn="l">
              <a:lnSpc>
                <a:spcPct val="95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DEMOSTRAR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3-0017-4000-8000-000000000000}"/>
              </a:ext>
            </a:extLst>
          </p:cNvPr>
          <p:cNvSpPr>
            <a:spLocks noGrp="1"/>
          </p:cNvSpPr>
          <p:nvPr/>
        </p:nvSpPr>
        <p:spPr>
          <a:xfrm>
            <a:off x="3143250" y="48196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Reportería exportable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000003-0018-4000-8000-000000000000}"/>
              </a:ext>
            </a:extLst>
          </p:cNvPr>
          <p:cNvSpPr>
            <a:spLocks noGrp="1"/>
          </p:cNvSpPr>
          <p:nvPr/>
        </p:nvSpPr>
        <p:spPr>
          <a:xfrm>
            <a:off x="3143250" y="51816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F7D5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D5DF"/>
                </a:solidFill>
                <a:latin typeface="Aptos"/>
                <a:ea typeface="Aptos"/>
                <a:cs typeface="Aptos"/>
              </a:rPr>
              <a:t>CSV y evidencia auditable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0000003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15050" y="4819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KPI y SLA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0000003-001A-4000-8000-000000000000}"/>
              </a:ext>
            </a:extLst>
          </p:cNvPr>
          <p:cNvSpPr>
            <a:spLocks noGrp="1"/>
          </p:cNvSpPr>
          <p:nvPr/>
        </p:nvSpPr>
        <p:spPr>
          <a:xfrm>
            <a:off x="6115050" y="51816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815"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F7D5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D5DF"/>
                </a:solidFill>
                <a:latin typeface="Aptos"/>
                <a:ea typeface="Aptos"/>
                <a:cs typeface="Aptos"/>
              </a:rPr>
              <a:t>Metas, disponibilidad y continuidad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0000003-001B-4000-8000-000000000000}"/>
              </a:ext>
            </a:extLst>
          </p:cNvPr>
          <p:cNvSpPr>
            <a:spLocks noGrp="1"/>
          </p:cNvSpPr>
          <p:nvPr/>
        </p:nvSpPr>
        <p:spPr>
          <a:xfrm>
            <a:off x="9277350" y="48196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roles RBAC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0000003-001C-4000-8000-000000000000}"/>
              </a:ext>
            </a:extLst>
          </p:cNvPr>
          <p:cNvSpPr>
            <a:spLocks noGrp="1"/>
          </p:cNvSpPr>
          <p:nvPr/>
        </p:nvSpPr>
        <p:spPr>
          <a:xfrm>
            <a:off x="9277350" y="51816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485" lnSpcReduction="10000"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F7D5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D5DF"/>
                </a:solidFill>
                <a:latin typeface="Aptos"/>
                <a:ea typeface="Aptos"/>
                <a:cs typeface="Aptos"/>
              </a:rPr>
              <a:t>Acceso mínimo por responsabilidad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000003-001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725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Resultado ejecutivo: una fuente única para priorizar, responder y rendir cuentas.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0000003-001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Fuente: Informe TIHI84 U2 ES2 · Priscila Bahamóndez · 2026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0000003-001F-4000-8000-000000000000}"/>
              </a:ext>
            </a:extLst>
          </p:cNvPr>
          <p:cNvSpPr>
            <a:spLocks noGrp="1"/>
          </p:cNvSpPr>
          <p:nvPr/>
        </p:nvSpPr>
        <p:spPr>
          <a:xfrm>
            <a:off x="8705850" y="6543675"/>
            <a:ext cx="28765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SGSI · Hospital Clínico Félix Bulnes</a:t>
            </a:r>
          </a:p>
        </p:txBody>
      </p:sp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03 · ARQUITECTURA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672"/>
          </a:bodyPr>
          <a:lstStyle/>
          <a:p>
            <a:pPr algn="l">
              <a:lnSpc>
                <a:spcPct val="95000"/>
              </a:lnSpc>
              <a:buNone/>
              <a:def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La arquitectura prioriza aislamiento, auditabilidad y bajo costo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323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975" b="1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664" lnSpcReduction="20000"/>
          </a:bodyPr>
          <a:lstStyle/>
          <a:p>
            <a:pPr algn="l">
              <a:lnSpc>
                <a:spcPct val="95000"/>
              </a:lnSpc>
              <a:buNone/>
              <a:defRPr sz="15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Tres decisiones reducen riesgo sin sobredimensionar la solución.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2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1257300" y="224790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Aislada de la red clínica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4-0008-4000-8000-000000000000}"/>
              </a:ext>
            </a:extLst>
          </p:cNvPr>
          <p:cNvSpPr>
            <a:spLocks noGrp="1"/>
          </p:cNvSpPr>
          <p:nvPr/>
        </p:nvSpPr>
        <p:spPr>
          <a:xfrm>
            <a:off x="1257300" y="2667000"/>
            <a:ext cx="3638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El SGSI es apoyo administrativo; no se conecta a Trakcare.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4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43053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4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25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4-000B-4000-8000-000000000000}"/>
              </a:ext>
            </a:extLst>
          </p:cNvPr>
          <p:cNvSpPr>
            <a:spLocks noGrp="1"/>
          </p:cNvSpPr>
          <p:nvPr/>
        </p:nvSpPr>
        <p:spPr>
          <a:xfrm>
            <a:off x="1257300" y="350520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Defensa en profundidad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4-000C-4000-8000-000000000000}"/>
              </a:ext>
            </a:extLst>
          </p:cNvPr>
          <p:cNvSpPr>
            <a:spLocks noGrp="1"/>
          </p:cNvSpPr>
          <p:nvPr/>
        </p:nvSpPr>
        <p:spPr>
          <a:xfrm>
            <a:off x="1257300" y="3924300"/>
            <a:ext cx="3638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Doble firewall: usuarios → DMZ → zona de datos.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4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43053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4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2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4-000F-4000-8000-000000000000}"/>
              </a:ext>
            </a:extLst>
          </p:cNvPr>
          <p:cNvSpPr>
            <a:spLocks noGrp="1"/>
          </p:cNvSpPr>
          <p:nvPr/>
        </p:nvSpPr>
        <p:spPr>
          <a:xfrm>
            <a:off x="1257300" y="476250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Stack abierto y mantenible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4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257300" y="5181600"/>
            <a:ext cx="3638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React + FastAPI + PostgreSQL; licencias de software: $0.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4-0011-4000-8000-000000000000}"/>
              </a:ext>
            </a:extLst>
          </p:cNvPr>
          <p:cNvSpPr>
            <a:spLocks noGrp="1"/>
          </p:cNvSpPr>
          <p:nvPr/>
        </p:nvSpPr>
        <p:spPr>
          <a:xfrm>
            <a:off x="5391150" y="1866900"/>
            <a:ext cx="6191250" cy="3790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40" name="Imagen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69068" y="2171700"/>
            <a:ext cx="5635413" cy="2971800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4-0012-4000-8000-000000000000}"/>
              </a:ext>
            </a:extLst>
          </p:cNvPr>
          <p:cNvSpPr>
            <a:spLocks noGrp="1"/>
          </p:cNvSpPr>
          <p:nvPr/>
        </p:nvSpPr>
        <p:spPr>
          <a:xfrm>
            <a:off x="5657850" y="5257800"/>
            <a:ext cx="565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9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Topología propuesta en el informe: acceso web, DMZ y datos segregados.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4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3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rPr>
              <a:t>La integración con ANCI se mantiene fuera de línea por canal institucional.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4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Fuente: Informe TIHI84 U2 ES2 · Priscila Bahamóndez · 2026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4-0015-4000-8000-000000000000}"/>
              </a:ext>
            </a:extLst>
          </p:cNvPr>
          <p:cNvSpPr>
            <a:spLocks noGrp="1"/>
          </p:cNvSpPr>
          <p:nvPr/>
        </p:nvSpPr>
        <p:spPr>
          <a:xfrm>
            <a:off x="8705850" y="6543675"/>
            <a:ext cx="28765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SGSI · Hospital Clínico Félix Bulnes</a:t>
            </a:r>
          </a:p>
        </p:txBody>
      </p:sp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00000005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04 · MEDICIÓN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5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26"/>
          </a:bodyPr>
          <a:lstStyle/>
          <a:p>
            <a:pPr algn="l">
              <a:lnSpc>
                <a:spcPct val="95000"/>
              </a:lnSpc>
              <a:buNone/>
              <a:def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El éxito se medirá con resultados, no con actividad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5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5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323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975" b="1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5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Ocho KPI conectan cada módulo con una meta verificable.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5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109728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5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0" y="2247900"/>
            <a:ext cx="19050" cy="278130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5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9728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5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109728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5-000A-4000-8000-000000000000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rPr>
              <a:t>≥ 60%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5-000B-4000-8000-000000000000}"/>
              </a:ext>
            </a:extLst>
          </p:cNvPr>
          <p:cNvSpPr>
            <a:spLocks noGrp="1"/>
          </p:cNvSpPr>
          <p:nvPr/>
        </p:nvSpPr>
        <p:spPr>
          <a:xfrm>
            <a:off x="838200" y="3067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madurez global al cierre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5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45745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rPr>
              <a:t>≥ 80%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5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067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controles con evidencia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5-000E-4000-8000-000000000000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5-000F-4000-8000-000000000000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incidentes reportados en plazo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5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8481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rPr>
              <a:t>≥ 90%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5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45770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terceros con cláusulas cumplidas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5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75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KPI COMPLEMENTARIOS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5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65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≥ 75%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5-0014-4000-8000-000000000000}"/>
              </a:ext>
            </a:extLst>
          </p:cNvPr>
          <p:cNvSpPr>
            <a:spLocks noGrp="1"/>
          </p:cNvSpPr>
          <p:nvPr/>
        </p:nvSpPr>
        <p:spPr>
          <a:xfrm>
            <a:off x="1657350" y="5667375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12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personas gestionadas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5-0015-4000-8000-000000000000}"/>
              </a:ext>
            </a:extLst>
          </p:cNvPr>
          <p:cNvSpPr>
            <a:spLocks noGrp="1"/>
          </p:cNvSpPr>
          <p:nvPr/>
        </p:nvSpPr>
        <p:spPr>
          <a:xfrm>
            <a:off x="3638550" y="56388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65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≥ 99%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5-0016-4000-8000-000000000000}"/>
              </a:ext>
            </a:extLst>
          </p:cNvPr>
          <p:cNvSpPr>
            <a:spLocks noGrp="1"/>
          </p:cNvSpPr>
          <p:nvPr/>
        </p:nvSpPr>
        <p:spPr>
          <a:xfrm>
            <a:off x="4648200" y="566737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12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uptime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5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019800" y="56388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65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≤ 30 min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000005-0018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0" y="56673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12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registro de incidente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0000005-0019-4000-8000-000000000000}"/>
              </a:ext>
            </a:extLst>
          </p:cNvPr>
          <p:cNvSpPr>
            <a:spLocks noGrp="1"/>
          </p:cNvSpPr>
          <p:nvPr/>
        </p:nvSpPr>
        <p:spPr>
          <a:xfrm>
            <a:off x="9372600" y="563880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65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≥ 20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0000005-001A-4000-8000-000000000000}"/>
              </a:ext>
            </a:extLst>
          </p:cNvPr>
          <p:cNvSpPr>
            <a:spLocks noGrp="1"/>
          </p:cNvSpPr>
          <p:nvPr/>
        </p:nvSpPr>
        <p:spPr>
          <a:xfrm>
            <a:off x="10153650" y="56673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12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sesiones / semana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0000005-001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10972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975" b="1">
                <a:solidFill>
                  <a:srgbClr val="D832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3263"/>
                </a:solidFill>
                <a:latin typeface="Aptos"/>
                <a:ea typeface="Aptos"/>
                <a:cs typeface="Aptos"/>
              </a:rPr>
              <a:t>Metas definidas en el informe; deben baselinarse con datos reales durante UAT y operación.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0000005-001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Fuente: Informe TIHI84 U2 ES2 · Priscila Bahamóndez · 2026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000005-001D-4000-8000-000000000000}"/>
              </a:ext>
            </a:extLst>
          </p:cNvPr>
          <p:cNvSpPr>
            <a:spLocks noGrp="1"/>
          </p:cNvSpPr>
          <p:nvPr/>
        </p:nvSpPr>
        <p:spPr>
          <a:xfrm>
            <a:off x="8705850" y="6543675"/>
            <a:ext cx="28765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SGSI · Hospital Clínico Félix Bulnes</a:t>
            </a:r>
          </a:p>
        </p:txBody>
      </p:sp>
    </p:spTree>
    <p:extLst>
      <p:ext uri="{BB962C8B-B14F-4D97-AF65-F5344CB8AC3E}">
        <p14:creationId xmlns:p14="http://schemas.microsoft.com/office/powerpoint/2010/main" val="5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00000006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7BC9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BC9C4"/>
                </a:solidFill>
                <a:latin typeface="Aptos"/>
                <a:ea typeface="Aptos"/>
                <a:cs typeface="Aptos"/>
              </a:rPr>
              <a:t>05 · SERVICIO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6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551"/>
          </a:bodyPr>
          <a:lstStyle/>
          <a:p>
            <a:pPr algn="l">
              <a:lnSpc>
                <a:spcPct val="95000"/>
              </a:lnSpc>
              <a:buNone/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operación propuesta ya tiene compromisos explícitos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6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19050"/>
          </a:xfrm>
          <a:prstGeom prst="rect">
            <a:avLst/>
          </a:prstGeom>
          <a:solidFill>
            <a:srgbClr val="4B575B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6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4500" b="1">
                <a:solidFill>
                  <a:srgbClr val="7BC9C4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7BC9C4"/>
                </a:solidFill>
                <a:latin typeface="Aptos Display"/>
                <a:ea typeface="Aptos Display"/>
                <a:cs typeface="Aptos Display"/>
              </a:rPr>
              <a:t>≥ 99%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6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disponibilidad mensual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6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125" b="0">
                <a:solidFill>
                  <a:srgbClr val="AEBB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BC"/>
                </a:solidFill>
                <a:latin typeface="Aptos"/>
                <a:ea typeface="Aptos"/>
                <a:cs typeface="Aptos"/>
              </a:rPr>
              <a:t>L–V · 08:00–17:00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6-0007-4000-8000-000000000000}"/>
              </a:ext>
            </a:extLst>
          </p:cNvPr>
          <p:cNvSpPr>
            <a:spLocks noGrp="1"/>
          </p:cNvSpPr>
          <p:nvPr/>
        </p:nvSpPr>
        <p:spPr>
          <a:xfrm>
            <a:off x="3257550" y="2019300"/>
            <a:ext cx="19050" cy="2095500"/>
          </a:xfrm>
          <a:prstGeom prst="rect">
            <a:avLst/>
          </a:prstGeom>
          <a:solidFill>
            <a:srgbClr val="4B575B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6-0008-4000-8000-000000000000}"/>
              </a:ext>
            </a:extLst>
          </p:cNvPr>
          <p:cNvSpPr>
            <a:spLocks noGrp="1"/>
          </p:cNvSpPr>
          <p:nvPr/>
        </p:nvSpPr>
        <p:spPr>
          <a:xfrm>
            <a:off x="3619500" y="2076450"/>
            <a:ext cx="209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≤ 8 h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6-0009-4000-8000-000000000000}"/>
              </a:ext>
            </a:extLst>
          </p:cNvPr>
          <p:cNvSpPr>
            <a:spLocks noGrp="1"/>
          </p:cNvSpPr>
          <p:nvPr/>
        </p:nvSpPr>
        <p:spPr>
          <a:xfrm>
            <a:off x="3619500" y="28765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RTO hábil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6-000A-4000-8000-000000000000}"/>
              </a:ext>
            </a:extLst>
          </p:cNvPr>
          <p:cNvSpPr>
            <a:spLocks noGrp="1"/>
          </p:cNvSpPr>
          <p:nvPr/>
        </p:nvSpPr>
        <p:spPr>
          <a:xfrm>
            <a:off x="3619500" y="3429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125" b="0">
                <a:solidFill>
                  <a:srgbClr val="AEBB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BC"/>
                </a:solidFill>
                <a:latin typeface="Aptos"/>
                <a:ea typeface="Aptos"/>
                <a:cs typeface="Aptos"/>
              </a:rPr>
              <a:t>restablecimiento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6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76950" y="2019300"/>
            <a:ext cx="19050" cy="2095500"/>
          </a:xfrm>
          <a:prstGeom prst="rect">
            <a:avLst/>
          </a:prstGeom>
          <a:solidFill>
            <a:srgbClr val="4B575B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6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43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rPr>
              <a:t>≤ 24 h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6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8765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RPO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6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4290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125" b="0">
                <a:solidFill>
                  <a:srgbClr val="AEBB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BC"/>
                </a:solidFill>
                <a:latin typeface="Aptos"/>
                <a:ea typeface="Aptos"/>
                <a:cs typeface="Aptos"/>
              </a:rPr>
              <a:t>respaldo diario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6-000F-4000-8000-000000000000}"/>
              </a:ext>
            </a:extLst>
          </p:cNvPr>
          <p:cNvSpPr>
            <a:spLocks noGrp="1"/>
          </p:cNvSpPr>
          <p:nvPr/>
        </p:nvSpPr>
        <p:spPr>
          <a:xfrm>
            <a:off x="8934450" y="2019300"/>
            <a:ext cx="19050" cy="2095500"/>
          </a:xfrm>
          <a:prstGeom prst="rect">
            <a:avLst/>
          </a:prstGeom>
          <a:solidFill>
            <a:srgbClr val="4B575B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6-0010-4000-8000-000000000000}"/>
              </a:ext>
            </a:extLst>
          </p:cNvPr>
          <p:cNvSpPr>
            <a:spLocks noGrp="1"/>
          </p:cNvSpPr>
          <p:nvPr/>
        </p:nvSpPr>
        <p:spPr>
          <a:xfrm>
            <a:off x="9315450" y="2076450"/>
            <a:ext cx="2266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30 min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6-0011-4000-8000-000000000000}"/>
              </a:ext>
            </a:extLst>
          </p:cNvPr>
          <p:cNvSpPr>
            <a:spLocks noGrp="1"/>
          </p:cNvSpPr>
          <p:nvPr/>
        </p:nvSpPr>
        <p:spPr>
          <a:xfrm>
            <a:off x="9315450" y="2876550"/>
            <a:ext cx="2266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respuesta crítica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6-0012-4000-8000-000000000000}"/>
              </a:ext>
            </a:extLst>
          </p:cNvPr>
          <p:cNvSpPr>
            <a:spLocks noGrp="1"/>
          </p:cNvSpPr>
          <p:nvPr/>
        </p:nvSpPr>
        <p:spPr>
          <a:xfrm>
            <a:off x="9315450" y="34290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125" b="0">
                <a:solidFill>
                  <a:srgbClr val="AEBB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BC"/>
                </a:solidFill>
                <a:latin typeface="Aptos"/>
                <a:ea typeface="Aptos"/>
                <a:cs typeface="Aptos"/>
              </a:rPr>
              <a:t>resolución objetivo: 4 h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6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972800" cy="1066800"/>
          </a:xfrm>
          <a:prstGeom prst="rect">
            <a:avLst/>
          </a:prstGeom>
          <a:solidFill>
            <a:srgbClr val="008B8F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6-0014-4000-8000-000000000000}"/>
              </a:ext>
            </a:extLst>
          </p:cNvPr>
          <p:cNvSpPr>
            <a:spLocks noGrp="1"/>
          </p:cNvSpPr>
          <p:nvPr/>
        </p:nvSpPr>
        <p:spPr>
          <a:xfrm>
            <a:off x="838200" y="48958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Validación pendiente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6-0015-4000-8000-000000000000}"/>
              </a:ext>
            </a:extLst>
          </p:cNvPr>
          <p:cNvSpPr>
            <a:spLocks noGrp="1"/>
          </p:cNvSpPr>
          <p:nvPr/>
        </p:nvSpPr>
        <p:spPr>
          <a:xfrm>
            <a:off x="3105150" y="4857750"/>
            <a:ext cx="8020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8542"/>
          </a:bodyPr>
          <a:lstStyle/>
          <a:p>
            <a:pPr algn="l">
              <a:lnSpc>
                <a:spcPct val="95000"/>
              </a:lnSpc>
              <a:buNone/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Estos SLA son una propuesta referencial del informe. Jefatura debe confirmar horario, soporte, responsables y capacidad de recuperación antes del paso a producción.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6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4762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675" b="0">
                <a:solidFill>
                  <a:srgbClr val="8FA0A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FA0A2"/>
                </a:solidFill>
                <a:latin typeface="Aptos"/>
                <a:ea typeface="Aptos"/>
                <a:cs typeface="Aptos"/>
              </a:rPr>
              <a:t>Fuente: Informe TIHI84 U2 ES2 · SLA propuesto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6-0017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6448425"/>
            <a:ext cx="4572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675" b="1">
                <a:solidFill>
                  <a:srgbClr val="8FA0A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FA0A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00000007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06 · IMPLEMENTACIÓN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7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277"/>
          </a:bodyPr>
          <a:lstStyle/>
          <a:p>
            <a:pPr algn="l">
              <a:lnSpc>
                <a:spcPct val="95000"/>
              </a:lnSpc>
              <a:buNone/>
              <a:def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Cuatro gates separan el desarrollo de una operación sostenible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7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7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323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975" b="1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7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Cada fase avanza solo cuando se cumple un criterio verificable.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7-0006-4000-8000-000000000000}"/>
              </a:ext>
            </a:extLst>
          </p:cNvPr>
          <p:cNvSpPr>
            <a:spLocks noGrp="1"/>
          </p:cNvSpPr>
          <p:nvPr/>
        </p:nvSpPr>
        <p:spPr>
          <a:xfrm>
            <a:off x="1123950" y="2781300"/>
            <a:ext cx="9906000" cy="571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0000007-0007-4000-8000-000000000000}"/>
              </a:ext>
            </a:extLst>
          </p:cNvPr>
          <p:cNvSpPr>
            <a:spLocks noGrp="1"/>
          </p:cNvSpPr>
          <p:nvPr/>
        </p:nvSpPr>
        <p:spPr>
          <a:xfrm>
            <a:off x="1304925" y="2686050"/>
            <a:ext cx="247650" cy="247650"/>
          </a:xfrm>
          <a:prstGeom prst="ellipse">
            <a:avLst/>
          </a:prstGeom>
          <a:solidFill>
            <a:srgbClr val="D83263"/>
          </a:solidFill>
          <a:ln w="38100">
            <a:solidFill>
              <a:srgbClr val="F7F8F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0000007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257675" y="2686050"/>
            <a:ext cx="247650" cy="247650"/>
          </a:xfrm>
          <a:prstGeom prst="ellipse">
            <a:avLst/>
          </a:prstGeom>
          <a:solidFill>
            <a:srgbClr val="008B8F"/>
          </a:solidFill>
          <a:ln w="38100">
            <a:solidFill>
              <a:srgbClr val="F7F8F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0000007-0009-4000-8000-000000000000}"/>
              </a:ext>
            </a:extLst>
          </p:cNvPr>
          <p:cNvSpPr>
            <a:spLocks noGrp="1"/>
          </p:cNvSpPr>
          <p:nvPr/>
        </p:nvSpPr>
        <p:spPr>
          <a:xfrm>
            <a:off x="7210425" y="2686050"/>
            <a:ext cx="247650" cy="247650"/>
          </a:xfrm>
          <a:prstGeom prst="ellipse">
            <a:avLst/>
          </a:prstGeom>
          <a:solidFill>
            <a:srgbClr val="20272B"/>
          </a:solidFill>
          <a:ln w="38100">
            <a:solidFill>
              <a:srgbClr val="F7F8F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0000007-000A-4000-8000-000000000000}"/>
              </a:ext>
            </a:extLst>
          </p:cNvPr>
          <p:cNvSpPr>
            <a:spLocks noGrp="1"/>
          </p:cNvSpPr>
          <p:nvPr/>
        </p:nvSpPr>
        <p:spPr>
          <a:xfrm>
            <a:off x="10163175" y="2686050"/>
            <a:ext cx="247650" cy="247650"/>
          </a:xfrm>
          <a:prstGeom prst="ellipse">
            <a:avLst/>
          </a:prstGeom>
          <a:solidFill>
            <a:srgbClr val="7BC9C4"/>
          </a:solidFill>
          <a:ln w="38100">
            <a:solidFill>
              <a:srgbClr val="F7F8F6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7-000B-4000-8000-000000000000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500" b="1">
                <a:solidFill>
                  <a:srgbClr val="D832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326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7-000C-4000-8000-000000000000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DESARROLLO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7-000D-4000-8000-000000000000}"/>
              </a:ext>
            </a:extLst>
          </p:cNvPr>
          <p:cNvSpPr>
            <a:spLocks noGrp="1"/>
          </p:cNvSpPr>
          <p:nvPr/>
        </p:nvSpPr>
        <p:spPr>
          <a:xfrm>
            <a:off x="762000" y="34480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12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Local · SQLite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7-000E-4000-8000-000000000000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975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7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" y="4171950"/>
            <a:ext cx="1600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684"/>
          </a:bodyPr>
          <a:lstStyle/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Compilación y pruebas</a:t>
            </a:r>
          </a:p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unitarias verdes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7-0010-4000-8000-000000000000}"/>
              </a:ext>
            </a:extLst>
          </p:cNvPr>
          <p:cNvSpPr>
            <a:spLocks noGrp="1"/>
          </p:cNvSpPr>
          <p:nvPr/>
        </p:nvSpPr>
        <p:spPr>
          <a:xfrm>
            <a:off x="4191000" y="219075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50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7-0011-4000-8000-000000000000}"/>
              </a:ext>
            </a:extLst>
          </p:cNvPr>
          <p:cNvSpPr>
            <a:spLocks noGrp="1"/>
          </p:cNvSpPr>
          <p:nvPr/>
        </p:nvSpPr>
        <p:spPr>
          <a:xfrm>
            <a:off x="3619500" y="31432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INTEGRACIÓN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7-0012-4000-8000-000000000000}"/>
              </a:ext>
            </a:extLst>
          </p:cNvPr>
          <p:cNvSpPr>
            <a:spLocks noGrp="1"/>
          </p:cNvSpPr>
          <p:nvPr/>
        </p:nvSpPr>
        <p:spPr>
          <a:xfrm>
            <a:off x="3524250" y="34480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12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Staging · PostgreSQL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7-0013-4000-8000-000000000000}"/>
              </a:ext>
            </a:extLst>
          </p:cNvPr>
          <p:cNvSpPr>
            <a:spLocks noGrp="1"/>
          </p:cNvSpPr>
          <p:nvPr/>
        </p:nvSpPr>
        <p:spPr>
          <a:xfrm>
            <a:off x="3714750" y="39052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975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7-0014-4000-8000-000000000000}"/>
              </a:ext>
            </a:extLst>
          </p:cNvPr>
          <p:cNvSpPr>
            <a:spLocks noGrp="1"/>
          </p:cNvSpPr>
          <p:nvPr/>
        </p:nvSpPr>
        <p:spPr>
          <a:xfrm>
            <a:off x="3600450" y="4171950"/>
            <a:ext cx="156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CP-01 a CP-16</a:t>
            </a:r>
          </a:p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aprobados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7-0015-4000-8000-000000000000}"/>
              </a:ext>
            </a:extLst>
          </p:cNvPr>
          <p:cNvSpPr>
            <a:spLocks noGrp="1"/>
          </p:cNvSpPr>
          <p:nvPr/>
        </p:nvSpPr>
        <p:spPr>
          <a:xfrm>
            <a:off x="7143750" y="219075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5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7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PRODUCCIÓN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7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0" y="34480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12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APP · DB · NAS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000007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975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0000007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343650" y="417195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684"/>
          </a:bodyPr>
          <a:lstStyle/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Aprobación del Encargado</a:t>
            </a:r>
          </a:p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de Ciberseguridad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0000007-001A-4000-8000-000000000000}"/>
              </a:ext>
            </a:extLst>
          </p:cNvPr>
          <p:cNvSpPr>
            <a:spLocks noGrp="1"/>
          </p:cNvSpPr>
          <p:nvPr/>
        </p:nvSpPr>
        <p:spPr>
          <a:xfrm>
            <a:off x="10096500" y="219075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50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0000007-001B-4000-8000-000000000000}"/>
              </a:ext>
            </a:extLst>
          </p:cNvPr>
          <p:cNvSpPr>
            <a:spLocks noGrp="1"/>
          </p:cNvSpPr>
          <p:nvPr/>
        </p:nvSpPr>
        <p:spPr>
          <a:xfrm>
            <a:off x="9620250" y="31432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0000007-001C-4000-8000-000000000000}"/>
              </a:ext>
            </a:extLst>
          </p:cNvPr>
          <p:cNvSpPr>
            <a:spLocks noGrp="1"/>
          </p:cNvSpPr>
          <p:nvPr/>
        </p:nvSpPr>
        <p:spPr>
          <a:xfrm>
            <a:off x="9334500" y="34480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12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Monitoreo y respaldo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000007-001D-4000-8000-000000000000}"/>
              </a:ext>
            </a:extLst>
          </p:cNvPr>
          <p:cNvSpPr>
            <a:spLocks noGrp="1"/>
          </p:cNvSpPr>
          <p:nvPr/>
        </p:nvSpPr>
        <p:spPr>
          <a:xfrm>
            <a:off x="9620250" y="39052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975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0000007-001E-4000-8000-000000000000}"/>
              </a:ext>
            </a:extLst>
          </p:cNvPr>
          <p:cNvSpPr>
            <a:spLocks noGrp="1"/>
          </p:cNvSpPr>
          <p:nvPr/>
        </p:nvSpPr>
        <p:spPr>
          <a:xfrm>
            <a:off x="9448800" y="4171950"/>
            <a:ext cx="1676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SLA medido y</a:t>
            </a:r>
          </a:p>
          <a:p>
            <a:pPr algn="ctr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mantención activa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0000007-001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666750"/>
          </a:xfrm>
          <a:prstGeom prst="rect">
            <a:avLst/>
          </a:prstGeom>
          <a:solidFill>
            <a:srgbClr val="E7F3F1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0000007-0020-4000-8000-000000000000}"/>
              </a:ext>
            </a:extLst>
          </p:cNvPr>
          <p:cNvSpPr>
            <a:spLocks noGrp="1"/>
          </p:cNvSpPr>
          <p:nvPr/>
        </p:nvSpPr>
        <p:spPr>
          <a:xfrm>
            <a:off x="838200" y="54483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Responsabilidad ejecutiva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0000007-0021-4000-8000-000000000000}"/>
              </a:ext>
            </a:extLst>
          </p:cNvPr>
          <p:cNvSpPr>
            <a:spLocks noGrp="1"/>
          </p:cNvSpPr>
          <p:nvPr/>
        </p:nvSpPr>
        <p:spPr>
          <a:xfrm>
            <a:off x="3276600" y="5391150"/>
            <a:ext cx="784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9561"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Confirmar infraestructura, responsables, UAT, respaldo y ventana de soporte antes de autorizar producción.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0000007-002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Fuente: Informe TIHI84 U2 ES2 · Priscila Bahamóndez · 2026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0000007-0023-4000-8000-000000000000}"/>
              </a:ext>
            </a:extLst>
          </p:cNvPr>
          <p:cNvSpPr>
            <a:spLocks noGrp="1"/>
          </p:cNvSpPr>
          <p:nvPr/>
        </p:nvSpPr>
        <p:spPr>
          <a:xfrm>
            <a:off x="8705850" y="6543675"/>
            <a:ext cx="28765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SGSI · Hospital Clínico Félix Bulnes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00000008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07 · GOBERNANZA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8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601"/>
          </a:bodyPr>
          <a:lstStyle/>
          <a:p>
            <a:pPr algn="l">
              <a:lnSpc>
                <a:spcPct val="95000"/>
              </a:lnSpc>
              <a:buNone/>
              <a:def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Antes del UAT deben cerrarse tres brechas de gobernanza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8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8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323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975" b="1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8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No son bloqueos técnicos: son definiciones que evitan pasar a producción con supuestos distintos.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8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2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8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75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Estado único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8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2857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El informe declara el objetivo cumplido, pero el cronograma aún ubica integración y UAT en noviembre.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8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00" b="1">
                <a:solidFill>
                  <a:srgbClr val="D832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3263"/>
                </a:solidFill>
                <a:latin typeface="Aptos"/>
                <a:ea typeface="Aptos"/>
                <a:cs typeface="Aptos"/>
              </a:rPr>
              <a:t>Cerrar con: evidencia de versión integrada y baseline de avance.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8-000A-4000-8000-000000000000}"/>
              </a:ext>
            </a:extLst>
          </p:cNvPr>
          <p:cNvSpPr>
            <a:spLocks noGrp="1"/>
          </p:cNvSpPr>
          <p:nvPr/>
        </p:nvSpPr>
        <p:spPr>
          <a:xfrm>
            <a:off x="3771900" y="2209800"/>
            <a:ext cx="19050" cy="278130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8-000B-4000-8000-000000000000}"/>
              </a:ext>
            </a:extLst>
          </p:cNvPr>
          <p:cNvSpPr>
            <a:spLocks noGrp="1"/>
          </p:cNvSpPr>
          <p:nvPr/>
        </p:nvSpPr>
        <p:spPr>
          <a:xfrm>
            <a:off x="4095750" y="226695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25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8-000C-4000-8000-000000000000}"/>
              </a:ext>
            </a:extLst>
          </p:cNvPr>
          <p:cNvSpPr>
            <a:spLocks noGrp="1"/>
          </p:cNvSpPr>
          <p:nvPr/>
        </p:nvSpPr>
        <p:spPr>
          <a:xfrm>
            <a:off x="4095750" y="27813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75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Continuidad probada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8-000D-4000-8000-000000000000}"/>
              </a:ext>
            </a:extLst>
          </p:cNvPr>
          <p:cNvSpPr>
            <a:spLocks noGrp="1"/>
          </p:cNvSpPr>
          <p:nvPr/>
        </p:nvSpPr>
        <p:spPr>
          <a:xfrm>
            <a:off x="4095750" y="3238500"/>
            <a:ext cx="314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Ransomware y pérdida de BD son impactos críticos; el plan exige respaldo diario y pruebas trimestrales.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8-000E-4000-8000-000000000000}"/>
              </a:ext>
            </a:extLst>
          </p:cNvPr>
          <p:cNvSpPr>
            <a:spLocks noGrp="1"/>
          </p:cNvSpPr>
          <p:nvPr/>
        </p:nvSpPr>
        <p:spPr>
          <a:xfrm>
            <a:off x="4095750" y="428625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0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Cerrar con: restauración demostrada contra RTO/RPO.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8-000F-4000-8000-000000000000}"/>
              </a:ext>
            </a:extLst>
          </p:cNvPr>
          <p:cNvSpPr>
            <a:spLocks noGrp="1"/>
          </p:cNvSpPr>
          <p:nvPr/>
        </p:nvSpPr>
        <p:spPr>
          <a:xfrm>
            <a:off x="7543800" y="2209800"/>
            <a:ext cx="19050" cy="278130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8-0010-4000-8000-000000000000}"/>
              </a:ext>
            </a:extLst>
          </p:cNvPr>
          <p:cNvSpPr>
            <a:spLocks noGrp="1"/>
          </p:cNvSpPr>
          <p:nvPr/>
        </p:nvSpPr>
        <p:spPr>
          <a:xfrm>
            <a:off x="7886700" y="226695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2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8-0011-4000-8000-000000000000}"/>
              </a:ext>
            </a:extLst>
          </p:cNvPr>
          <p:cNvSpPr>
            <a:spLocks noGrp="1"/>
          </p:cNvSpPr>
          <p:nvPr/>
        </p:nvSpPr>
        <p:spPr>
          <a:xfrm>
            <a:off x="7886700" y="27813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75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Dueños operativos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8-0012-4000-8000-000000000000}"/>
              </a:ext>
            </a:extLst>
          </p:cNvPr>
          <p:cNvSpPr>
            <a:spLocks noGrp="1"/>
          </p:cNvSpPr>
          <p:nvPr/>
        </p:nvSpPr>
        <p:spPr>
          <a:xfrm>
            <a:off x="7886700" y="3238500"/>
            <a:ext cx="314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Los 4 roles están definidos; falta confirmar quién opera soporte, respaldos, cambios y escalamiento.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8-0013-4000-8000-000000000000}"/>
              </a:ext>
            </a:extLst>
          </p:cNvPr>
          <p:cNvSpPr>
            <a:spLocks noGrp="1"/>
          </p:cNvSpPr>
          <p:nvPr/>
        </p:nvSpPr>
        <p:spPr>
          <a:xfrm>
            <a:off x="7886700" y="428625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00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Cerrar con: RACI aprobado y ventana de soporte confirmada.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8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781050"/>
          </a:xfrm>
          <a:prstGeom prst="rect">
            <a:avLst/>
          </a:prstGeom>
          <a:solidFill>
            <a:srgbClr val="20272B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8-0015-4000-8000-000000000000}"/>
              </a:ext>
            </a:extLst>
          </p:cNvPr>
          <p:cNvSpPr>
            <a:spLocks noGrp="1"/>
          </p:cNvSpPr>
          <p:nvPr/>
        </p:nvSpPr>
        <p:spPr>
          <a:xfrm>
            <a:off x="838200" y="55245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00" b="1">
                <a:solidFill>
                  <a:srgbClr val="7BC9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C9C4"/>
                </a:solidFill>
                <a:latin typeface="Aptos"/>
                <a:ea typeface="Aptos"/>
                <a:cs typeface="Aptos"/>
              </a:rPr>
              <a:t>HITOS DEL PLAN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8-0016-4000-8000-000000000000}"/>
              </a:ext>
            </a:extLst>
          </p:cNvPr>
          <p:cNvSpPr>
            <a:spLocks noGrp="1"/>
          </p:cNvSpPr>
          <p:nvPr/>
        </p:nvSpPr>
        <p:spPr>
          <a:xfrm>
            <a:off x="2476500" y="54673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23 OCT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8-0017-4000-8000-000000000000}"/>
              </a:ext>
            </a:extLst>
          </p:cNvPr>
          <p:cNvSpPr>
            <a:spLocks noGrp="1"/>
          </p:cNvSpPr>
          <p:nvPr/>
        </p:nvSpPr>
        <p:spPr>
          <a:xfrm>
            <a:off x="2476500" y="57626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00" b="0">
                <a:solidFill>
                  <a:srgbClr val="AEBBB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BBC"/>
                </a:solidFill>
                <a:latin typeface="Aptos"/>
                <a:ea typeface="Aptos"/>
                <a:cs typeface="Aptos"/>
              </a:rPr>
              <a:t>diseño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000008-0018-4000-8000-000000000000}"/>
              </a:ext>
            </a:extLst>
          </p:cNvPr>
          <p:cNvSpPr>
            <a:spLocks noGrp="1"/>
          </p:cNvSpPr>
          <p:nvPr/>
        </p:nvSpPr>
        <p:spPr>
          <a:xfrm>
            <a:off x="4457700" y="54673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 NOV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0000008-0019-4000-8000-000000000000}"/>
              </a:ext>
            </a:extLst>
          </p:cNvPr>
          <p:cNvSpPr>
            <a:spLocks noGrp="1"/>
          </p:cNvSpPr>
          <p:nvPr/>
        </p:nvSpPr>
        <p:spPr>
          <a:xfrm>
            <a:off x="4457700" y="57626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00" b="0">
                <a:solidFill>
                  <a:srgbClr val="AEBBB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BBC"/>
                </a:solidFill>
                <a:latin typeface="Aptos"/>
                <a:ea typeface="Aptos"/>
                <a:cs typeface="Aptos"/>
              </a:rPr>
              <a:t>integración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0000008-001A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54673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 NOV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0000008-001B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57626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00" b="0">
                <a:solidFill>
                  <a:srgbClr val="AEBBB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BBC"/>
                </a:solidFill>
                <a:latin typeface="Aptos"/>
                <a:ea typeface="Aptos"/>
                <a:cs typeface="Aptos"/>
              </a:rPr>
              <a:t>UAT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0000008-001C-4000-8000-000000000000}"/>
              </a:ext>
            </a:extLst>
          </p:cNvPr>
          <p:cNvSpPr>
            <a:spLocks noGrp="1"/>
          </p:cNvSpPr>
          <p:nvPr/>
        </p:nvSpPr>
        <p:spPr>
          <a:xfrm>
            <a:off x="8572500" y="54673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 DIC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000008-001D-4000-8000-000000000000}"/>
              </a:ext>
            </a:extLst>
          </p:cNvPr>
          <p:cNvSpPr>
            <a:spLocks noGrp="1"/>
          </p:cNvSpPr>
          <p:nvPr/>
        </p:nvSpPr>
        <p:spPr>
          <a:xfrm>
            <a:off x="8572500" y="57626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00" b="0">
                <a:solidFill>
                  <a:srgbClr val="AEBBB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BBC"/>
                </a:solidFill>
                <a:latin typeface="Aptos"/>
                <a:ea typeface="Aptos"/>
                <a:cs typeface="Aptos"/>
              </a:rPr>
              <a:t>ES2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0000008-001E-4000-8000-000000000000}"/>
              </a:ext>
            </a:extLst>
          </p:cNvPr>
          <p:cNvSpPr>
            <a:spLocks noGrp="1"/>
          </p:cNvSpPr>
          <p:nvPr/>
        </p:nvSpPr>
        <p:spPr>
          <a:xfrm>
            <a:off x="9715500" y="55435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95000"/>
              </a:lnSpc>
              <a:buNone/>
              <a:defRPr sz="1050" b="1">
                <a:solidFill>
                  <a:srgbClr val="D832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3263"/>
                </a:solidFill>
                <a:latin typeface="Aptos"/>
                <a:ea typeface="Aptos"/>
                <a:cs typeface="Aptos"/>
              </a:rPr>
              <a:t>Alinear avance real con estos hitos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0000008-001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Fuente: Informe TIHI84 U2 ES2 · Priscila Bahamóndez · 2026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0000008-0020-4000-8000-000000000000}"/>
              </a:ext>
            </a:extLst>
          </p:cNvPr>
          <p:cNvSpPr>
            <a:spLocks noGrp="1"/>
          </p:cNvSpPr>
          <p:nvPr/>
        </p:nvSpPr>
        <p:spPr>
          <a:xfrm>
            <a:off x="8705850" y="6543675"/>
            <a:ext cx="28765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SGSI · Hospital Clínico Félix Bulnes</a:t>
            </a:r>
          </a:p>
        </p:txBody>
      </p:sp>
    </p:spTree>
    <p:extLst>
      <p:ext uri="{BB962C8B-B14F-4D97-AF65-F5344CB8AC3E}">
        <p14:creationId xmlns:p14="http://schemas.microsoft.com/office/powerpoint/2010/main" val="8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00000009-0001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D83263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9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D832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3263"/>
                </a:solidFill>
                <a:latin typeface="Aptos"/>
                <a:ea typeface="Aptos"/>
                <a:cs typeface="Aptos"/>
              </a:rPr>
              <a:t>DECISIÓN REQUERIDA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9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4762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40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Tres decisiones</a:t>
            </a:r>
          </a:p>
          <a:p>
            <a:pPr algn="l">
              <a:lnSpc>
                <a:spcPct val="95000"/>
              </a:lnSpc>
              <a:buNone/>
              <a:defRPr sz="40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destraban el</a:t>
            </a:r>
          </a:p>
          <a:p>
            <a:pPr algn="l">
              <a:lnSpc>
                <a:spcPct val="95000"/>
              </a:lnSpc>
              <a:buNone/>
              <a:defRPr sz="40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siguiente hito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9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3390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Objetivo inmediato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9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4095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650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Llegar a integración y UAT con una definición común de alcance, servicio y responsables.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9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4095750" cy="685800"/>
          </a:xfrm>
          <a:prstGeom prst="rect">
            <a:avLst/>
          </a:prstGeom>
          <a:solidFill>
            <a:srgbClr val="008B8F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9-0007-4000-8000-000000000000}"/>
              </a:ext>
            </a:extLst>
          </p:cNvPr>
          <p:cNvSpPr>
            <a:spLocks noGrp="1"/>
          </p:cNvSpPr>
          <p:nvPr/>
        </p:nvSpPr>
        <p:spPr>
          <a:xfrm>
            <a:off x="895350" y="5410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Resolver esta semana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9-0008-4000-8000-000000000000}"/>
              </a:ext>
            </a:extLst>
          </p:cNvPr>
          <p:cNvSpPr>
            <a:spLocks noGrp="1"/>
          </p:cNvSpPr>
          <p:nvPr/>
        </p:nvSpPr>
        <p:spPr>
          <a:xfrm>
            <a:off x="2724150" y="53721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3621" lnSpcReduction="10000"/>
          </a:bodyPr>
          <a:lstStyle/>
          <a:p>
            <a:pPr algn="l">
              <a:lnSpc>
                <a:spcPct val="95000"/>
              </a:lnSpc>
              <a:buNone/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para proteger los hitos 13 y 20 de noviembre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9-0009-4000-8000-000000000000}"/>
              </a:ext>
            </a:extLst>
          </p:cNvPr>
          <p:cNvSpPr>
            <a:spLocks noGrp="1"/>
          </p:cNvSpPr>
          <p:nvPr/>
        </p:nvSpPr>
        <p:spPr>
          <a:xfrm>
            <a:off x="5429250" y="609600"/>
            <a:ext cx="19050" cy="529590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9-000A-4000-8000-000000000000}"/>
              </a:ext>
            </a:extLst>
          </p:cNvPr>
          <p:cNvSpPr>
            <a:spLocks noGrp="1"/>
          </p:cNvSpPr>
          <p:nvPr/>
        </p:nvSpPr>
        <p:spPr>
          <a:xfrm>
            <a:off x="5924550" y="87630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10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83263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9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8572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9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Validar SLA y continuidad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9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12763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Confirmar 99% de disponibilidad, RTO/RPO, soporte y frecuencia de pruebas de recuperación.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9-000D-4000-8000-000000000000}"/>
              </a:ext>
            </a:extLst>
          </p:cNvPr>
          <p:cNvSpPr>
            <a:spLocks noGrp="1"/>
          </p:cNvSpPr>
          <p:nvPr/>
        </p:nvSpPr>
        <p:spPr>
          <a:xfrm>
            <a:off x="5924550" y="2057400"/>
            <a:ext cx="51435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9-000E-4000-8000-000000000000}"/>
              </a:ext>
            </a:extLst>
          </p:cNvPr>
          <p:cNvSpPr>
            <a:spLocks noGrp="1"/>
          </p:cNvSpPr>
          <p:nvPr/>
        </p:nvSpPr>
        <p:spPr>
          <a:xfrm>
            <a:off x="5924550" y="234315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10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8B8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9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23241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60"/>
          </a:bodyPr>
          <a:lstStyle/>
          <a:p>
            <a:pPr algn="l">
              <a:lnSpc>
                <a:spcPct val="95000"/>
              </a:lnSpc>
              <a:buNone/>
              <a:defRPr sz="19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Nombrar sponsor y dueños de UAT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9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27432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Aprobar roles, responsables de prueba y criterio formal de aceptación para CP-01 a CP-16.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9-0011-4000-8000-000000000000}"/>
              </a:ext>
            </a:extLst>
          </p:cNvPr>
          <p:cNvSpPr>
            <a:spLocks noGrp="1"/>
          </p:cNvSpPr>
          <p:nvPr/>
        </p:nvSpPr>
        <p:spPr>
          <a:xfrm>
            <a:off x="5924550" y="3524250"/>
            <a:ext cx="5143500" cy="19050"/>
          </a:xfrm>
          <a:prstGeom prst="rect">
            <a:avLst/>
          </a:prstGeom>
          <a:solidFill>
            <a:srgbClr val="D8DEDE"/>
          </a:solidFill>
          <a:ln w="0">
            <a:noFill/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9-0012-4000-8000-000000000000}"/>
              </a:ext>
            </a:extLst>
          </p:cNvPr>
          <p:cNvSpPr>
            <a:spLocks noGrp="1"/>
          </p:cNvSpPr>
          <p:nvPr/>
        </p:nvSpPr>
        <p:spPr>
          <a:xfrm>
            <a:off x="5924550" y="381000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1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9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37909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487"/>
          </a:bodyPr>
          <a:lstStyle/>
          <a:p>
            <a:pPr algn="l">
              <a:lnSpc>
                <a:spcPct val="95000"/>
              </a:lnSpc>
              <a:buNone/>
              <a:defRPr sz="19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272B"/>
                </a:solidFill>
                <a:latin typeface="Aptos Display"/>
                <a:ea typeface="Aptos Display"/>
                <a:cs typeface="Aptos Display"/>
              </a:rPr>
              <a:t>Autorizar preparación de infraestructura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9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42100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Confirmar APP-01, DB-01, NAS-01, segmentación, respaldos y capacidad de soporte operativo.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9-0015-4000-8000-00000000000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00" b="1">
                <a:solidFill>
                  <a:srgbClr val="008B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B8F"/>
                </a:solidFill>
                <a:latin typeface="Aptos"/>
                <a:ea typeface="Aptos"/>
                <a:cs typeface="Aptos"/>
              </a:rPr>
              <a:t>PRÓXIMOS HITOS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9-0016-4000-8000-000000000000}"/>
              </a:ext>
            </a:extLst>
          </p:cNvPr>
          <p:cNvSpPr>
            <a:spLocks noGrp="1"/>
          </p:cNvSpPr>
          <p:nvPr/>
        </p:nvSpPr>
        <p:spPr>
          <a:xfrm>
            <a:off x="5924550" y="55245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674"/>
          </a:bodyPr>
          <a:lstStyle/>
          <a:p>
            <a:pPr algn="l">
              <a:lnSpc>
                <a:spcPct val="95000"/>
              </a:lnSpc>
              <a:buNone/>
              <a:defRPr sz="1275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13 NOV · sistema integrado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9-0017-4000-8000-000000000000}"/>
              </a:ext>
            </a:extLst>
          </p:cNvPr>
          <p:cNvSpPr>
            <a:spLocks noGrp="1"/>
          </p:cNvSpPr>
          <p:nvPr/>
        </p:nvSpPr>
        <p:spPr>
          <a:xfrm>
            <a:off x="8477250" y="55245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20 NOV · UAT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000009-0018-4000-8000-000000000000}"/>
              </a:ext>
            </a:extLst>
          </p:cNvPr>
          <p:cNvSpPr>
            <a:spLocks noGrp="1"/>
          </p:cNvSpPr>
          <p:nvPr/>
        </p:nvSpPr>
        <p:spPr>
          <a:xfrm>
            <a:off x="5924550" y="58864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1">
                <a:solidFill>
                  <a:srgbClr val="2027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72B"/>
                </a:solidFill>
                <a:latin typeface="Aptos"/>
                <a:ea typeface="Aptos"/>
                <a:cs typeface="Aptos"/>
              </a:rPr>
              <a:t>11 DIC · entrega ES2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0000009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675" b="0">
                <a:solidFill>
                  <a:srgbClr val="6470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078"/>
                </a:solidFill>
                <a:latin typeface="Aptos"/>
                <a:ea typeface="Aptos"/>
                <a:cs typeface="Aptos"/>
              </a:rPr>
              <a:t>SGSI · Presentación ejecutiva</a:t>
            </a:r>
          </a:p>
        </p:txBody>
      </p:sp>
    </p:spTree>
    <p:extLst>
      <p:ext uri="{BB962C8B-B14F-4D97-AF65-F5344CB8AC3E}">
        <p14:creationId xmlns:p14="http://schemas.microsoft.com/office/powerpoint/2010/main" val="9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998</Words>
  <Application>Microsoft Macintosh PowerPoint</Application>
  <PresentationFormat>Panorámica</PresentationFormat>
  <Paragraphs>200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Aptos</vt:lpstr>
      <vt:lpstr>Aptos Display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Nahum Andrés Sánchez Aedo</dc:creator>
  <cp:lastModifiedBy>Nahum Andrés Sánchez Aedo</cp:lastModifiedBy>
  <cp:revision>2</cp:revision>
  <dcterms:created xsi:type="dcterms:W3CDTF">2026-10-28T13:54:39Z</dcterms:created>
  <dcterms:modified xsi:type="dcterms:W3CDTF">2026-10-28T14:12:29Z</dcterms:modified>
</cp:coreProperties>
</file>